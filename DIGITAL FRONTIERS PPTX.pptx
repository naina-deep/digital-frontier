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38692D-4FDB-4280-A893-2901E98C9CD2}" v="1" dt="2026-10-15T08:37:30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nadeep Kaur" userId="38f7ae9822491304" providerId="LiveId" clId="{B044269A-206A-4842-B3C9-231464AA3866}"/>
    <pc:docChg chg="undo custSel modSld">
      <pc:chgData name="Nainadeep Kaur" userId="38f7ae9822491304" providerId="LiveId" clId="{B044269A-206A-4842-B3C9-231464AA3866}" dt="2026-10-15T08:37:55.955" v="9" actId="14100"/>
      <pc:docMkLst>
        <pc:docMk/>
      </pc:docMkLst>
      <pc:sldChg chg="addSp delSp modSp mod">
        <pc:chgData name="Nainadeep Kaur" userId="38f7ae9822491304" providerId="LiveId" clId="{B044269A-206A-4842-B3C9-231464AA3866}" dt="2026-10-15T08:37:55.955" v="9" actId="14100"/>
        <pc:sldMkLst>
          <pc:docMk/>
          <pc:sldMk cId="0" sldId="256"/>
        </pc:sldMkLst>
        <pc:spChg chg="add del mod">
          <ac:chgData name="Nainadeep Kaur" userId="38f7ae9822491304" providerId="LiveId" clId="{B044269A-206A-4842-B3C9-231464AA3866}" dt="2026-10-15T08:37:55.955" v="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ainadeep Kaur" userId="38f7ae9822491304" providerId="LiveId" clId="{B044269A-206A-4842-B3C9-231464AA3866}" dt="2026-10-15T08:37:36.393" v="6" actId="1076"/>
          <ac:spMkLst>
            <pc:docMk/>
            <pc:sldMk cId="0" sldId="256"/>
            <ac:spMk id="11" creationId="{00000000-0000-0000-0000-000000000000}"/>
          </ac:spMkLst>
        </pc:spChg>
        <pc:spChg chg="add del">
          <ac:chgData name="Nainadeep Kaur" userId="38f7ae9822491304" providerId="LiveId" clId="{B044269A-206A-4842-B3C9-231464AA3866}" dt="2026-10-15T08:37:22.618" v="2" actId="22"/>
          <ac:spMkLst>
            <pc:docMk/>
            <pc:sldMk cId="0" sldId="256"/>
            <ac:spMk id="24" creationId="{47B83F0D-5240-E397-CDE7-E60A2DF027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640080"/>
            <a:ext cx="3840480" cy="3840480"/>
          </a:xfrm>
          <a:prstGeom prst="ellipse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97680"/>
            <a:ext cx="3108960" cy="3108960"/>
          </a:xfrm>
          <a:prstGeom prst="ellipse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480560"/>
            <a:ext cx="1097280" cy="1097280"/>
          </a:xfrm>
          <a:prstGeom prst="ellipse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594360"/>
            <a:ext cx="3063240" cy="329184"/>
          </a:xfrm>
          <a:prstGeom prst="round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658368"/>
            <a:ext cx="28803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BUSINESS ANALYTICS • RESEARCH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7132320" cy="2057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4600" b="1" i="0">
                <a:solidFill>
                  <a:srgbClr val="FFF9F0"/>
                </a:solidFill>
                <a:latin typeface="Georgia"/>
              </a:defRPr>
            </a:pPr>
            <a:r>
              <a:t>DIGITAL</a:t>
            </a:r>
          </a:p>
          <a:p>
            <a:pPr algn="l">
              <a:spcAft>
                <a:spcPts val="400"/>
              </a:spcAft>
              <a:defRPr sz="4600" b="1" i="0">
                <a:solidFill>
                  <a:srgbClr val="FFF9F0"/>
                </a:solidFill>
                <a:latin typeface="Georgia"/>
              </a:defRPr>
            </a:pPr>
            <a:r>
              <a:t>FRONTIER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60350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200" b="0" i="0">
                <a:solidFill>
                  <a:srgbClr val="FFE4EC"/>
                </a:solidFill>
                <a:latin typeface="Aptos"/>
              </a:defRPr>
            </a:pPr>
            <a:r>
              <a:t>Measuring Digital Development</a:t>
            </a:r>
          </a:p>
          <a:p>
            <a:pPr algn="l">
              <a:spcAft>
                <a:spcPts val="400"/>
              </a:spcAft>
              <a:defRPr sz="2200" b="0" i="0">
                <a:solidFill>
                  <a:srgbClr val="FFE4EC"/>
                </a:solidFill>
                <a:latin typeface="Aptos"/>
              </a:defRPr>
            </a:pPr>
            <a:r>
              <a:t>Across Economies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681728"/>
            <a:ext cx="1005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965192"/>
            <a:ext cx="5621495" cy="10525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  <a:latin typeface="Californian FB" panose="0207040306080B030204" pitchFamily="18" charset="0"/>
              </a:rPr>
              <a:t>ICT = Information and Communication Technology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Californian FB" panose="0207040306080B030204" pitchFamily="18" charset="0"/>
              </a:rPr>
              <a:t>ITU = International Telecommunication Union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Californian FB" panose="0207040306080B030204" pitchFamily="18" charset="0"/>
              </a:rPr>
              <a:t>IDI = ICT Development Index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9F0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86384" y="6017788"/>
            <a:ext cx="60350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C9B6FF"/>
                </a:solidFill>
                <a:latin typeface="Aptos"/>
              </a:defRPr>
            </a:pPr>
            <a:r>
              <a:t>Nainadeep Kaur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C9B6FF"/>
                </a:solidFill>
                <a:latin typeface="Aptos"/>
              </a:defRPr>
            </a:pPr>
            <a:r>
              <a:t>BBA — Business Analytics (IBM) • Second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2331720" cy="1508760"/>
          </a:xfrm>
          <a:prstGeom prst="round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0496" y="1993392"/>
            <a:ext cx="1984248" cy="11430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32520" y="2395728"/>
            <a:ext cx="228600" cy="228600"/>
          </a:xfrm>
          <a:prstGeom prst="ellipse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25712" y="2395728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18904" y="2395728"/>
            <a:ext cx="228600" cy="228600"/>
          </a:xfrm>
          <a:prstGeom prst="ellipse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12096" y="2395728"/>
            <a:ext cx="228600" cy="228600"/>
          </a:xfrm>
          <a:prstGeom prst="ellipse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3355848"/>
            <a:ext cx="2971800" cy="146304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05872" y="3063240"/>
            <a:ext cx="658368" cy="1325880"/>
          </a:xfrm>
          <a:prstGeom prst="roundRect">
            <a:avLst/>
          </a:prstGeom>
          <a:solidFill>
            <a:srgbClr val="24202B"/>
          </a:solidFill>
          <a:ln>
            <a:solidFill>
              <a:srgbClr val="FFF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79024" y="3182112"/>
            <a:ext cx="512064" cy="1033271"/>
          </a:xfrm>
          <a:prstGeom prst="round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3858768"/>
            <a:ext cx="13716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24202B"/>
                </a:solidFill>
                <a:latin typeface="Georgia"/>
              </a:defRPr>
            </a:pPr>
            <a:r>
              <a:t>158</a:t>
            </a:r>
          </a:p>
          <a:p>
            <a:pPr algn="ctr">
              <a:spcAft>
                <a:spcPts val="400"/>
              </a:spcAft>
              <a:defRPr sz="1500" b="1" i="0">
                <a:solidFill>
                  <a:srgbClr val="24202B"/>
                </a:solidFill>
                <a:latin typeface="Georgia"/>
              </a:defRPr>
            </a:pPr>
            <a:r>
              <a:t>ECONOMIES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806440"/>
            <a:ext cx="3886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FFF9F0"/>
                </a:solidFill>
                <a:latin typeface="Aptos"/>
              </a:defRPr>
            </a:pPr>
            <a:r>
              <a:t>A global snapshot of digital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01 •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Is digital development equally distributed?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6720840" cy="4297680"/>
          </a:xfrm>
          <a:prstGeom prst="roundRect">
            <a:avLst/>
          </a:prstGeom>
          <a:solidFill>
            <a:srgbClr val="24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48840"/>
            <a:ext cx="5943600" cy="2011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FF9F0"/>
                </a:solidFill>
                <a:latin typeface="Georgia"/>
              </a:defRPr>
            </a:pPr>
            <a:r>
              <a:t>How evenly is digital development distributed across economies — and how strongly is it associated with income level?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92040"/>
            <a:ext cx="2011680" cy="310896"/>
          </a:xfrm>
          <a:prstGeom prst="round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956048"/>
            <a:ext cx="187451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THE CENTRAL INQUIRY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56692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FE4EC"/>
                </a:solidFill>
                <a:latin typeface="Aptos"/>
              </a:defRPr>
            </a:pPr>
            <a:r>
              <a:t>A comparison of global, regional, and income-group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783080"/>
            <a:ext cx="3749039" cy="1143000"/>
          </a:xfrm>
          <a:prstGeom prst="roundRect">
            <a:avLst/>
          </a:prstGeom>
          <a:solidFill>
            <a:srgbClr val="FFF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783080"/>
            <a:ext cx="731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920240"/>
            <a:ext cx="3383279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6B35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39" y="2221991"/>
            <a:ext cx="3383279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rPr dirty="0">
                <a:latin typeface="Century" panose="02040604050505020304" pitchFamily="18" charset="0"/>
              </a:rPr>
              <a:t>Digital participation shapes access to information, services, and opportunity.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127248"/>
            <a:ext cx="3749039" cy="114300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3127248"/>
            <a:ext cx="73152" cy="1143000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3264408"/>
            <a:ext cx="3383279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05A8D"/>
                </a:solidFill>
                <a:latin typeface="Aptos"/>
              </a:defRPr>
            </a:pPr>
            <a:r>
              <a:t>WHAT WE 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3566160"/>
            <a:ext cx="3383279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rPr dirty="0">
                <a:latin typeface="Century" panose="02040604050505020304" pitchFamily="18" charset="0"/>
              </a:rPr>
              <a:t>Global score • six regions • four income groups • reported correlation.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4471416"/>
            <a:ext cx="3749039" cy="11430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80960" y="4471416"/>
            <a:ext cx="73152" cy="1143000"/>
          </a:xfrm>
          <a:prstGeom prst="rect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4608576"/>
            <a:ext cx="3383279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4D8DFF"/>
                </a:solidFill>
                <a:latin typeface="Aptos"/>
              </a:defRPr>
            </a:pPr>
            <a:r>
              <a:t>HOW WE INTERPRET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4910327"/>
            <a:ext cx="3383279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rPr dirty="0">
                <a:latin typeface="Century" panose="02040604050505020304" pitchFamily="18" charset="0"/>
              </a:rPr>
              <a:t>We identify patterns while acknowledging the limits of aggregate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02 • THE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What does the IDI help us understand?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1069848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24202B"/>
                </a:solidFill>
                <a:latin typeface="Georgia"/>
              </a:defRPr>
            </a:pPr>
            <a:r>
              <a:t>Digital development is more than a signal on a screen. It includes access to connectivity and the ability to use it meaningfully.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97480"/>
            <a:ext cx="3474720" cy="228600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40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F05A8D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9260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202B"/>
                </a:solidFill>
                <a:latin typeface="Aptos"/>
              </a:defRPr>
            </a:pPr>
            <a:r>
              <a:t>Availability of digital infrastructure and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697480"/>
            <a:ext cx="3474720" cy="22860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2926080"/>
            <a:ext cx="640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4D8D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52044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4023360"/>
            <a:ext cx="29260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202B"/>
                </a:solidFill>
                <a:latin typeface="Aptos"/>
              </a:defRPr>
            </a:pPr>
            <a:r>
              <a:t>Internet use and participation in digital life.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2697480"/>
            <a:ext cx="3474720" cy="2286000"/>
          </a:xfrm>
          <a:prstGeom prst="roundRect">
            <a:avLst/>
          </a:prstGeom>
          <a:solidFill>
            <a:srgbClr val="FFF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58784" y="2926080"/>
            <a:ext cx="640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FF6B35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352044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MEANINGFUL CONNECTIVITY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023360"/>
            <a:ext cx="29260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202B"/>
                </a:solidFill>
                <a:latin typeface="Aptos"/>
              </a:defRPr>
            </a:pPr>
            <a:r>
              <a:t>The opportunity to benefit from being connected.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440680"/>
            <a:ext cx="106070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1">
                <a:solidFill>
                  <a:srgbClr val="6D6572"/>
                </a:solidFill>
                <a:latin typeface="Aptos"/>
              </a:defRPr>
            </a:pPr>
            <a:r>
              <a:t>This presentation uses the IDI as an overall indicator; it does not reconstruct the official index formula or component weights.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03 •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From source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202996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2359152"/>
            <a:ext cx="502920" cy="502920"/>
          </a:xfrm>
          <a:prstGeom prst="ellipse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514600"/>
            <a:ext cx="50292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63240"/>
            <a:ext cx="1737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05A8D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93008"/>
            <a:ext cx="169164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ITU ICT Development Index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99232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D65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148840"/>
            <a:ext cx="202996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9816" y="235915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9816" y="2514600"/>
            <a:ext cx="50292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3063240"/>
            <a:ext cx="1737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6B35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3493008"/>
            <a:ext cx="169164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158 economies represented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999232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D65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48655" y="2148840"/>
            <a:ext cx="202996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13247" y="2359152"/>
            <a:ext cx="502920" cy="502920"/>
          </a:xfrm>
          <a:prstGeom prst="ellipse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13247" y="2514600"/>
            <a:ext cx="50292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7" y="3063240"/>
            <a:ext cx="1737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4D8DFF"/>
                </a:solidFill>
                <a:latin typeface="Aptos"/>
              </a:defRPr>
            </a:pPr>
            <a:r>
              <a:t>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7" y="3493008"/>
            <a:ext cx="169164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Regional and income-group averages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3" y="2999232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D65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2148840"/>
            <a:ext cx="202996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26679" y="2359152"/>
            <a:ext cx="502920" cy="502920"/>
          </a:xfrm>
          <a:prstGeom prst="ellipse">
            <a:avLst/>
          </a:prstGeom>
          <a:solidFill>
            <a:srgbClr val="C9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2514600"/>
            <a:ext cx="50292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063240"/>
            <a:ext cx="1737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C9B6FF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493008"/>
            <a:ext cx="169164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Score differences and reported 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2999232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D65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19" y="2148840"/>
            <a:ext cx="2029968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40111" y="2359152"/>
            <a:ext cx="502920" cy="502920"/>
          </a:xfrm>
          <a:prstGeom prst="ellipse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40111" y="2514600"/>
            <a:ext cx="50292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1" y="3063240"/>
            <a:ext cx="1737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D84D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1" y="3493008"/>
            <a:ext cx="169164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Patterns, meaning, and limitations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46320"/>
            <a:ext cx="10881360" cy="914400"/>
          </a:xfrm>
          <a:prstGeom prst="round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074920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SCOPE NOTE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029200"/>
            <a:ext cx="8869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This deck uses supplied aggregate figures. No raw country-level dataset was provided for independent reconstruction.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04 • GLOBAL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The global digital development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12080" cy="1572768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21945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F05A8D"/>
                </a:solidFill>
                <a:latin typeface="Georgia"/>
              </a:defRPr>
            </a:pPr>
            <a:r>
              <a:t>62.62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2084831"/>
            <a:ext cx="24231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AVERAGE IDI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37360"/>
            <a:ext cx="5212080" cy="1572768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938528"/>
            <a:ext cx="21945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4D8DFF"/>
                </a:solidFill>
                <a:latin typeface="Georgia"/>
              </a:defRPr>
            </a:pPr>
            <a:r>
              <a:t>100.00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084831"/>
            <a:ext cx="24231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HIGHEST OBSERVED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5212080" cy="1572768"/>
          </a:xfrm>
          <a:prstGeom prst="roundRect">
            <a:avLst/>
          </a:prstGeom>
          <a:solidFill>
            <a:srgbClr val="FFF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858768"/>
            <a:ext cx="21945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FF6B35"/>
                </a:solidFill>
                <a:latin typeface="Georgia"/>
              </a:defRPr>
            </a:pPr>
            <a:r>
              <a:t>158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005072"/>
            <a:ext cx="24231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ECONOMIES REPRESENTED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657600"/>
            <a:ext cx="5212080" cy="1572768"/>
          </a:xfrm>
          <a:prstGeom prst="round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3858768"/>
            <a:ext cx="21945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C9B6FF"/>
                </a:solidFill>
                <a:latin typeface="Georgia"/>
              </a:defRPr>
            </a:pPr>
            <a:r>
              <a:t>37.38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4005072"/>
            <a:ext cx="24231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PROJECT-DEFINED GAP TO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434840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D6572"/>
                </a:solidFill>
                <a:latin typeface="Aptos"/>
              </a:defRPr>
            </a:pPr>
            <a:r>
              <a:t>100.00 − 62.62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202B"/>
                </a:solidFill>
                <a:latin typeface="Georgia"/>
              </a:defRPr>
            </a:pPr>
            <a:r>
              <a:t>A global average is a useful starting point, but it cannot show how scores are distributed across regions or income groups.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05 • REGIONAL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A world of uneven digital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6720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D6572"/>
                </a:solidFill>
                <a:latin typeface="Aptos"/>
              </a:defRPr>
            </a:pPr>
            <a:r>
              <a:t>AVERAGE IDI SCORE BY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Europe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299716"/>
            <a:ext cx="3931920" cy="201168"/>
          </a:xfrm>
          <a:prstGeom prst="round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86000" y="2299716"/>
            <a:ext cx="3020107" cy="201168"/>
          </a:xfrm>
          <a:prstGeom prst="round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267712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76.81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Asia-Pacific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894076"/>
            <a:ext cx="3931920" cy="201168"/>
          </a:xfrm>
          <a:prstGeom prst="round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86000" y="2894076"/>
            <a:ext cx="2666628" cy="20116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2862072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67.82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56432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CIS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488436"/>
            <a:ext cx="3931920" cy="201168"/>
          </a:xfrm>
          <a:prstGeom prst="round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86000" y="3488436"/>
            <a:ext cx="2585237" cy="201168"/>
          </a:xfrm>
          <a:prstGeom prst="roundRect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3456432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65.75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1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Americas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082796"/>
            <a:ext cx="3931920" cy="201168"/>
          </a:xfrm>
          <a:prstGeom prst="round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86000" y="4082796"/>
            <a:ext cx="2258888" cy="201168"/>
          </a:xfrm>
          <a:prstGeom prst="roundRect">
            <a:avLst/>
          </a:prstGeom>
          <a:solidFill>
            <a:srgbClr val="C9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1072" y="4050791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57.45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45152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Arab States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677156"/>
            <a:ext cx="3931920" cy="201168"/>
          </a:xfrm>
          <a:prstGeom prst="round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286000" y="4677156"/>
            <a:ext cx="2216030" cy="201168"/>
          </a:xfrm>
          <a:prstGeom prst="round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4645152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56.36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39512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Africa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271516"/>
            <a:ext cx="3931920" cy="201168"/>
          </a:xfrm>
          <a:prstGeom prst="round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286000" y="5271516"/>
            <a:ext cx="1787057" cy="201168"/>
          </a:xfrm>
          <a:prstGeom prst="roundRect">
            <a:avLst/>
          </a:prstGeom>
          <a:solidFill>
            <a:srgbClr val="24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5239512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45.45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1783080"/>
            <a:ext cx="3794760" cy="114300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1783080"/>
            <a:ext cx="73152" cy="1143000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36408" y="1920240"/>
            <a:ext cx="34290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05A8D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2221991"/>
            <a:ext cx="3429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Europe leads at 76.81; Africa records the lowest average at 45.45.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127248"/>
            <a:ext cx="3794760" cy="1143000"/>
          </a:xfrm>
          <a:prstGeom prst="roundRect">
            <a:avLst/>
          </a:prstGeom>
          <a:solidFill>
            <a:srgbClr val="FFF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35240" y="3127248"/>
            <a:ext cx="731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36408" y="3264408"/>
            <a:ext cx="34290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6B35"/>
                </a:solidFill>
                <a:latin typeface="Aptos"/>
              </a:defRPr>
            </a:pPr>
            <a:r>
              <a:t>WHAT IT MEANS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3566160"/>
            <a:ext cx="3429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The difference between these regional averages is 31.36 points.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471416"/>
            <a:ext cx="3794760" cy="11430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35240" y="4471416"/>
            <a:ext cx="73152" cy="1143000"/>
          </a:xfrm>
          <a:prstGeom prst="rect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36408" y="4608576"/>
            <a:ext cx="34290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4D8DF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6408" y="4910327"/>
            <a:ext cx="3429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One global average can conceal substantial regional differences.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06 •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9959" y="530401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rPr dirty="0"/>
              <a:t>Exploring the evidence through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887" y="104013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2277" y="1516723"/>
            <a:ext cx="73152" cy="4480560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002536"/>
            <a:ext cx="36576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F9F0"/>
                </a:solidFill>
                <a:latin typeface="Aptos"/>
              </a:defRPr>
            </a:pPr>
            <a:r>
              <a:t>POWER BI DASHBOARD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4E4A9-3B7F-CB1A-932B-163727AB1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64" y="1277112"/>
            <a:ext cx="9935271" cy="49597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D082DFD-55F3-E6A0-5AA1-AF61D20DA85B}"/>
              </a:ext>
            </a:extLst>
          </p:cNvPr>
          <p:cNvSpPr/>
          <p:nvPr/>
        </p:nvSpPr>
        <p:spPr>
          <a:xfrm>
            <a:off x="11246333" y="1563624"/>
            <a:ext cx="73152" cy="4480560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07 • INCOME AND IDI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Income and digital development move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6858000" cy="45537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5303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D6572"/>
                </a:solidFill>
                <a:latin typeface="Aptos"/>
              </a:defRPr>
            </a:pPr>
            <a:r>
              <a:t>AVERAGE IDI SCORE BY INCOME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5166359"/>
            <a:ext cx="5943600" cy="18288"/>
          </a:xfrm>
          <a:prstGeom prst="rect">
            <a:avLst/>
          </a:prstGeom>
          <a:solidFill>
            <a:srgbClr val="6D6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8457" y="3214504"/>
            <a:ext cx="817245" cy="1951855"/>
          </a:xfrm>
          <a:prstGeom prst="round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8729" y="2958472"/>
            <a:ext cx="103670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80.55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39512"/>
            <a:ext cx="14859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High</a:t>
            </a:r>
          </a:p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income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4358" y="3599544"/>
            <a:ext cx="817245" cy="1566815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54629" y="3343512"/>
            <a:ext cx="103670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64.66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7460" y="5239512"/>
            <a:ext cx="14859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Upper-</a:t>
            </a:r>
          </a:p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middle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0258" y="4012935"/>
            <a:ext cx="817245" cy="1153424"/>
          </a:xfrm>
          <a:prstGeom prst="roundRect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40530" y="3756903"/>
            <a:ext cx="103670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47.60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39512"/>
            <a:ext cx="14859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Lower-</a:t>
            </a:r>
          </a:p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middle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36158" y="4478667"/>
            <a:ext cx="817245" cy="687692"/>
          </a:xfrm>
          <a:prstGeom prst="roundRect">
            <a:avLst/>
          </a:prstGeom>
          <a:solidFill>
            <a:srgbClr val="C9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6430" y="4222635"/>
            <a:ext cx="103670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28.38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9260" y="5239512"/>
            <a:ext cx="14859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Low</a:t>
            </a:r>
          </a:p>
          <a:p>
            <a:pPr algn="ctr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income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783080"/>
            <a:ext cx="3611880" cy="1783080"/>
          </a:xfrm>
          <a:prstGeom prst="roundRect">
            <a:avLst/>
          </a:prstGeom>
          <a:solidFill>
            <a:srgbClr val="24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2057400"/>
            <a:ext cx="30632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2900" b="1" i="0">
                <a:solidFill>
                  <a:srgbClr val="FFD84D"/>
                </a:solidFill>
                <a:latin typeface="Georgia"/>
              </a:defRPr>
            </a:pPr>
            <a:r>
              <a:t>r ≈ 0.91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2743200"/>
            <a:ext cx="30632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FF9F0"/>
                </a:solidFill>
                <a:latin typeface="Aptos"/>
              </a:defRPr>
            </a:pPr>
            <a:r>
              <a:t>REPORTED PEARSON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712464"/>
            <a:ext cx="33375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rPr dirty="0"/>
              <a:t>Income level ↔ IDI score</a:t>
            </a:r>
          </a:p>
          <a:p>
            <a:pPr algn="ct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rPr dirty="0"/>
              <a:t>Approximately 152 paired economies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08976" y="4323219"/>
            <a:ext cx="3611880" cy="77724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4343400"/>
            <a:ext cx="73152" cy="777240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73568" y="4480560"/>
            <a:ext cx="3246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05A8D"/>
                </a:solidFill>
                <a:latin typeface="Aptos"/>
              </a:defRPr>
            </a:pPr>
            <a:r>
              <a:rPr dirty="0"/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1" y="4699071"/>
            <a:ext cx="3246120" cy="2743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rPr dirty="0"/>
              <a:t>The reported results show a strong positive association.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5285232"/>
            <a:ext cx="3611880" cy="777240"/>
          </a:xfrm>
          <a:prstGeom prst="roundRect">
            <a:avLst/>
          </a:prstGeom>
          <a:solidFill>
            <a:srgbClr val="FFF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0" y="5285232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73568" y="5422392"/>
            <a:ext cx="3246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6B35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724144"/>
            <a:ext cx="3246120" cy="2743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Correlation does not establish causation.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08 • SAMPLE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Where are the 158 economies distributed?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4709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41148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6D6572"/>
                </a:solidFill>
                <a:latin typeface="Aptos"/>
              </a:defRPr>
            </a:pPr>
            <a:r>
              <a:t>REGIONAL SAMPLE COMPOSITION</a:t>
            </a:r>
          </a:p>
        </p:txBody>
      </p:sp>
      <p:sp>
        <p:nvSpPr>
          <p:cNvPr id="8" name="Oval 7"/>
          <p:cNvSpPr/>
          <p:nvPr/>
        </p:nvSpPr>
        <p:spPr>
          <a:xfrm>
            <a:off x="1325880" y="2395728"/>
            <a:ext cx="3246120" cy="324612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2944368"/>
            <a:ext cx="2148840" cy="2148840"/>
          </a:xfrm>
          <a:prstGeom prst="ellipse">
            <a:avLst/>
          </a:prstGeom>
          <a:solidFill>
            <a:srgbClr val="24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3493008"/>
            <a:ext cx="16916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3000" b="1" i="0">
                <a:solidFill>
                  <a:srgbClr val="FFF9F0"/>
                </a:solidFill>
                <a:latin typeface="Georgia"/>
              </a:defRPr>
            </a:pPr>
            <a:r>
              <a:t>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041648"/>
            <a:ext cx="1600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FFD84D"/>
                </a:solidFill>
                <a:latin typeface="Aptos"/>
              </a:defRPr>
            </a:pPr>
            <a:r>
              <a:t>ECONOMIES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1920239"/>
            <a:ext cx="182880" cy="182880"/>
          </a:xfrm>
          <a:prstGeom prst="ellipse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Europe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74519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1874519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6D6572"/>
                </a:solidFill>
                <a:latin typeface="Aptos"/>
              </a:defRPr>
            </a:pPr>
            <a:r>
              <a:t>27.2%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2532887"/>
            <a:ext cx="182880" cy="1828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487168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Africa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87168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487168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6D6572"/>
                </a:solidFill>
                <a:latin typeface="Aptos"/>
              </a:defRPr>
            </a:pPr>
            <a:r>
              <a:t>20.3%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3145535"/>
            <a:ext cx="182880" cy="182880"/>
          </a:xfrm>
          <a:prstGeom prst="ellipse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099815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Asia-Pacific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099815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099815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6D6572"/>
                </a:solidFill>
                <a:latin typeface="Aptos"/>
              </a:defRPr>
            </a:pPr>
            <a:r>
              <a:t>19.6%</a:t>
            </a:r>
          </a:p>
        </p:txBody>
      </p:sp>
      <p:sp>
        <p:nvSpPr>
          <p:cNvPr id="24" name="Oval 23"/>
          <p:cNvSpPr/>
          <p:nvPr/>
        </p:nvSpPr>
        <p:spPr>
          <a:xfrm>
            <a:off x="5897880" y="3758184"/>
            <a:ext cx="182880" cy="182880"/>
          </a:xfrm>
          <a:prstGeom prst="ellipse">
            <a:avLst/>
          </a:prstGeom>
          <a:solidFill>
            <a:srgbClr val="C9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712464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Americas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12464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712464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6D6572"/>
                </a:solidFill>
                <a:latin typeface="Aptos"/>
              </a:defRPr>
            </a:pPr>
            <a:r>
              <a:t>16.5%</a:t>
            </a:r>
          </a:p>
        </p:txBody>
      </p:sp>
      <p:sp>
        <p:nvSpPr>
          <p:cNvPr id="28" name="Oval 27"/>
          <p:cNvSpPr/>
          <p:nvPr/>
        </p:nvSpPr>
        <p:spPr>
          <a:xfrm>
            <a:off x="5897880" y="4370832"/>
            <a:ext cx="182880" cy="182880"/>
          </a:xfrm>
          <a:prstGeom prst="ellipse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4325112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Arab States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325112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4325112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6D6572"/>
                </a:solidFill>
                <a:latin typeface="Aptos"/>
              </a:defRPr>
            </a:pPr>
            <a:r>
              <a:t>11.4%</a:t>
            </a:r>
          </a:p>
        </p:txBody>
      </p:sp>
      <p:sp>
        <p:nvSpPr>
          <p:cNvPr id="32" name="Oval 31"/>
          <p:cNvSpPr/>
          <p:nvPr/>
        </p:nvSpPr>
        <p:spPr>
          <a:xfrm>
            <a:off x="5897880" y="4983480"/>
            <a:ext cx="182880" cy="182880"/>
          </a:xfrm>
          <a:prstGeom prst="ellipse">
            <a:avLst/>
          </a:prstGeom>
          <a:solidFill>
            <a:srgbClr val="24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4937760"/>
            <a:ext cx="1920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24202B"/>
                </a:solidFill>
                <a:latin typeface="Aptos"/>
              </a:defRPr>
            </a:pPr>
            <a:r>
              <a:t>CIS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937760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937760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6D6572"/>
                </a:solidFill>
                <a:latin typeface="Aptos"/>
              </a:defRPr>
            </a:pPr>
            <a:r>
              <a:t>5.1%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5715000"/>
            <a:ext cx="5029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1">
                <a:solidFill>
                  <a:srgbClr val="6D6572"/>
                </a:solidFill>
                <a:latin typeface="Aptos"/>
              </a:defRPr>
            </a:pPr>
            <a:r>
              <a:t>This describes sample composition, not regional digital performance. Regional score comparisons appear on Slide 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09 •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Reading the patterns, not just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93008" cy="416052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640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F05A8D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9748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REGIONAL DISPARITY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37560"/>
            <a:ext cx="292608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05A8D"/>
                </a:solidFill>
                <a:latin typeface="Georgia"/>
              </a:defRPr>
            </a:pPr>
            <a:r>
              <a:t>Europe 76.81 • Africa 45.45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F05A8D"/>
                </a:solidFill>
                <a:latin typeface="Georgia"/>
              </a:defRPr>
            </a:pPr>
            <a:r>
              <a:t>Difference: 31.36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4480560"/>
            <a:ext cx="685800" cy="45720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4736592"/>
            <a:ext cx="29260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Regional averages reveal gaps hidden by a single global figure.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93008" cy="4160520"/>
          </a:xfrm>
          <a:prstGeom prst="roundRect">
            <a:avLst/>
          </a:prstGeom>
          <a:solidFill>
            <a:srgbClr val="FFF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057400"/>
            <a:ext cx="640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FF6B35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9748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INCOME-GROUP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337560"/>
            <a:ext cx="292608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F6B35"/>
                </a:solidFill>
                <a:latin typeface="Georgia"/>
              </a:defRPr>
            </a:pPr>
            <a:r>
              <a:t>High income 80.55 • Low income 28.38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FF6B35"/>
                </a:solidFill>
                <a:latin typeface="Georgia"/>
              </a:defRPr>
            </a:pPr>
            <a:r>
              <a:t>Difference: 52.17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4480560"/>
            <a:ext cx="685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59" y="4736592"/>
            <a:ext cx="29260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The supplied group averages show a pronounced separation.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828800"/>
            <a:ext cx="3493008" cy="41605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1352" y="2057400"/>
            <a:ext cx="640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4D8D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69748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4202B"/>
                </a:solidFill>
                <a:latin typeface="Aptos"/>
              </a:defRPr>
            </a:pPr>
            <a:r>
              <a:t>STRONG ASSOCIATION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337560"/>
            <a:ext cx="292608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4D8DFF"/>
                </a:solidFill>
                <a:latin typeface="Georgia"/>
              </a:defRPr>
            </a:pPr>
            <a:r>
              <a:t>Reported Pearson r ≈ 0.91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4D8DFF"/>
                </a:solidFill>
                <a:latin typeface="Georgia"/>
              </a:defRPr>
            </a:pPr>
            <a:r>
              <a:t>~152 paired economies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1352" y="4480560"/>
            <a:ext cx="685800" cy="45720"/>
          </a:xfrm>
          <a:prstGeom prst="rect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1352" y="4736592"/>
            <a:ext cx="29260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4202B"/>
                </a:solidFill>
                <a:latin typeface="Aptos"/>
              </a:defRPr>
            </a:pPr>
            <a:r>
              <a:t>The variables are strongly associated; causation is not established.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10 • RESPONSIBLE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4202B"/>
                </a:solidFill>
                <a:latin typeface="Georgia"/>
              </a:defRPr>
            </a:pPr>
            <a:r>
              <a:t>What this analysis can—and cannot—tell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474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D6572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0" cy="32004"/>
          </a:xfrm>
          <a:prstGeom prst="rect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230368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05A8D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10512"/>
            <a:ext cx="4178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05A8D"/>
                </a:solidFill>
                <a:latin typeface="Aptos"/>
              </a:defRPr>
            </a:pPr>
            <a:r>
              <a:t>AGGREGATE AVERAGES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130552"/>
            <a:ext cx="417880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Group averages conceal variation among individual economies.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691640"/>
            <a:ext cx="5230368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85623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F6B35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810512"/>
            <a:ext cx="4178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6B35"/>
                </a:solidFill>
                <a:latin typeface="Aptos"/>
              </a:defRPr>
            </a:pPr>
            <a:r>
              <a:t>CORRELATION ≠ CAUSATION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130552"/>
            <a:ext cx="417880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The coefficient does not establish that income causes a particular IDI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08960"/>
            <a:ext cx="5230368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27355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4D8D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227832"/>
            <a:ext cx="4178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4D8DFF"/>
                </a:solidFill>
                <a:latin typeface="Aptos"/>
              </a:defRPr>
            </a:pPr>
            <a:r>
              <a:t>PAIRED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47872"/>
            <a:ext cx="417880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The correlation uses ~152 paired economies, versus 158 represented overall.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08960"/>
            <a:ext cx="5230368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27355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C9B6F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227832"/>
            <a:ext cx="4178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C9B6FF"/>
                </a:solidFill>
                <a:latin typeface="Aptos"/>
              </a:defRPr>
            </a:pPr>
            <a:r>
              <a:t>NO HISTORICAL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547872"/>
            <a:ext cx="417880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The supplied figures do not establish how scores changed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09160"/>
            <a:ext cx="10808208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487375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24202B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28032"/>
            <a:ext cx="975664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24202B"/>
                </a:solidFill>
                <a:latin typeface="Aptos"/>
              </a:defRPr>
            </a:pPr>
            <a:r>
              <a:t>RAW DATA NOT PROVIDED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148072"/>
            <a:ext cx="975664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4202B"/>
                </a:solidFill>
                <a:latin typeface="Aptos"/>
              </a:defRPr>
            </a:pPr>
            <a:r>
              <a:t>Country-level records and calculations cannot be reconstructed from summary figures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56248"/>
            <a:ext cx="10058400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D6572"/>
                </a:solidFill>
                <a:latin typeface="Aptos"/>
              </a:defRPr>
            </a:pPr>
            <a:r>
              <a:t>SOURCE: ITU ICT DEVELOPMENT INDEX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-640080"/>
            <a:ext cx="3840480" cy="3840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343400"/>
            <a:ext cx="2834640" cy="2834640"/>
          </a:xfrm>
          <a:prstGeom prst="ellipse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709160"/>
            <a:ext cx="1097280" cy="1097280"/>
          </a:xfrm>
          <a:prstGeom prst="ellipse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D84D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132320" cy="1600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3900" b="1" i="0">
                <a:solidFill>
                  <a:srgbClr val="FFF9F0"/>
                </a:solidFill>
                <a:latin typeface="Georgia"/>
              </a:defRPr>
            </a:pPr>
            <a:r>
              <a:t>The digital</a:t>
            </a:r>
          </a:p>
          <a:p>
            <a:pPr algn="l">
              <a:spcAft>
                <a:spcPts val="400"/>
              </a:spcAft>
              <a:defRPr sz="3900" b="1" i="0">
                <a:solidFill>
                  <a:srgbClr val="FFF9F0"/>
                </a:solidFill>
                <a:latin typeface="Georgia"/>
              </a:defRPr>
            </a:pPr>
            <a:r>
              <a:t>frontier is uneven.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44368"/>
            <a:ext cx="644652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700" b="0" i="0">
                <a:solidFill>
                  <a:srgbClr val="FFE4EC"/>
                </a:solidFill>
                <a:latin typeface="Aptos"/>
              </a:defRPr>
            </a:pPr>
            <a:r>
              <a:t>Regional averages differ. Income-group averages diverge. The reported association is strong — but the evidence must be interpreted responsibly.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343400"/>
            <a:ext cx="256032" cy="256032"/>
          </a:xfrm>
          <a:prstGeom prst="ellipse">
            <a:avLst/>
          </a:prstGeom>
          <a:solidFill>
            <a:srgbClr val="F05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361688"/>
            <a:ext cx="3657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334256"/>
            <a:ext cx="6217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F9F0"/>
                </a:solidFill>
                <a:latin typeface="Aptos"/>
              </a:defRPr>
            </a:pPr>
            <a:r>
              <a:t>Read global averages alongside regional differences.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46320"/>
            <a:ext cx="256032" cy="256032"/>
          </a:xfrm>
          <a:prstGeom prst="ellipse">
            <a:avLst/>
          </a:prstGeom>
          <a:solidFill>
            <a:srgbClr val="4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864607"/>
            <a:ext cx="3657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37176"/>
            <a:ext cx="6217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F9F0"/>
                </a:solidFill>
                <a:latin typeface="Aptos"/>
              </a:defRPr>
            </a:pPr>
            <a:r>
              <a:t>Recognize the substantial income-group gap.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349240"/>
            <a:ext cx="256032" cy="256032"/>
          </a:xfrm>
          <a:prstGeom prst="ellipse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367527"/>
            <a:ext cx="3657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4202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40096"/>
            <a:ext cx="6217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FF9F0"/>
                </a:solidFill>
                <a:latin typeface="Aptos"/>
              </a:defRPr>
            </a:pPr>
            <a:r>
              <a:t>Treat association as evidence, not proof of causation.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965960"/>
            <a:ext cx="3429000" cy="1737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600" b="1" i="1">
                <a:solidFill>
                  <a:srgbClr val="FFF9F0"/>
                </a:solidFill>
                <a:latin typeface="Georgia"/>
              </a:defRPr>
            </a:pPr>
            <a:r>
              <a:t>“Measuring digital development is not just about comparing scores. It is about understanding where differences exist — and interpreting the evidence responsibly.”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3840480"/>
            <a:ext cx="1371600" cy="54864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4160520"/>
            <a:ext cx="2468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9F0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892040"/>
            <a:ext cx="3520440" cy="426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C9B6FF"/>
                </a:solidFill>
                <a:latin typeface="Aptos"/>
              </a:defRPr>
            </a:pPr>
            <a:r>
              <a:rPr sz="1100" b="1" u="sng" dirty="0">
                <a:solidFill>
                  <a:schemeClr val="bg1"/>
                </a:solidFill>
              </a:rPr>
              <a:t>Source: ITU ICT Development Index 2026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C9B6FF"/>
                </a:solidFill>
                <a:latin typeface="Aptos"/>
              </a:defRPr>
            </a:pPr>
            <a:r>
              <a:rPr sz="1100" b="1" u="sng" dirty="0">
                <a:solidFill>
                  <a:schemeClr val="bg1"/>
                </a:solidFill>
              </a:rPr>
              <a:t>itu.int/</a:t>
            </a:r>
            <a:r>
              <a:rPr sz="1100" b="1" u="sng" dirty="0" err="1">
                <a:solidFill>
                  <a:schemeClr val="bg1"/>
                </a:solidFill>
              </a:rPr>
              <a:t>itu</a:t>
            </a:r>
            <a:r>
              <a:rPr sz="1100" b="1" u="sng" dirty="0">
                <a:solidFill>
                  <a:schemeClr val="bg1"/>
                </a:solidFill>
              </a:rPr>
              <a:t>-d/reports/statistics/idi2026/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7607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C9B6FF"/>
                </a:solidFill>
                <a:latin typeface="Aptos"/>
              </a:defRPr>
            </a:pPr>
            <a:r>
              <a:t>DIGITAL FRONTIER • NAINADEEP KAUR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910</Words>
  <Application>Microsoft Office PowerPoint</Application>
  <PresentationFormat>Widescreen</PresentationFormat>
  <Paragraphs>211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Californian FB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Nainadeep Kaur</cp:lastModifiedBy>
  <cp:revision>3</cp:revision>
  <dcterms:created xsi:type="dcterms:W3CDTF">2013-01-27T09:14:16Z</dcterms:created>
  <dcterms:modified xsi:type="dcterms:W3CDTF">2026-10-15T08:37:56Z</dcterms:modified>
  <cp:category/>
</cp:coreProperties>
</file>